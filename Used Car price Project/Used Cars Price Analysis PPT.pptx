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75D57C-E379-48E2-933C-14C9E2BFD1F8}" type="datetimeFigureOut">
              <a:rPr lang="en-IN" smtClean="0"/>
              <a:t>11-12-2025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37C6A9-4561-4C97-8B69-F71D9D3B7E43}" type="slidenum">
              <a:rPr lang="en-IN" smtClean="0"/>
              <a:t>‹#›</a:t>
            </a:fld>
            <a:endParaRPr lang="en-IN"/>
          </a:p>
        </p:txBody>
      </p:sp>
    </p:spTree>
    <p:extLst>
      <p:ext uri="{BB962C8B-B14F-4D97-AF65-F5344CB8AC3E}">
        <p14:creationId xmlns:p14="http://schemas.microsoft.com/office/powerpoint/2010/main" val="1549245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37C6A9-4561-4C97-8B69-F71D9D3B7E43}" type="slidenum">
              <a:rPr lang="en-IN" smtClean="0"/>
              <a:t>1</a:t>
            </a:fld>
            <a:endParaRPr lang="en-IN"/>
          </a:p>
        </p:txBody>
      </p:sp>
    </p:spTree>
    <p:extLst>
      <p:ext uri="{BB962C8B-B14F-4D97-AF65-F5344CB8AC3E}">
        <p14:creationId xmlns:p14="http://schemas.microsoft.com/office/powerpoint/2010/main" val="4175581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22663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84400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4269522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7016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33876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4566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35761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7036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27223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700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12/11/2025</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357090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12/11/2025</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398545538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480">
          <p15:clr>
            <a:srgbClr val="F26B43"/>
          </p15:clr>
        </p15:guide>
        <p15:guide id="3" pos="960">
          <p15:clr>
            <a:srgbClr val="F26B43"/>
          </p15:clr>
        </p15:guide>
        <p15:guide id="4" pos="1440">
          <p15:clr>
            <a:srgbClr val="F26B43"/>
          </p15:clr>
        </p15:guide>
        <p15:guide id="5" pos="1920">
          <p15:clr>
            <a:srgbClr val="F26B43"/>
          </p15:clr>
        </p15:guide>
        <p15:guide id="6" pos="2400">
          <p15:clr>
            <a:srgbClr val="F26B43"/>
          </p15:clr>
        </p15:guide>
        <p15:guide id="7" pos="2880">
          <p15:clr>
            <a:srgbClr val="F26B43"/>
          </p15:clr>
        </p15:guide>
        <p15:guide id="8" pos="3360">
          <p15:clr>
            <a:srgbClr val="F26B43"/>
          </p15:clr>
        </p15:guide>
        <p15:guide id="9" pos="3840">
          <p15:clr>
            <a:srgbClr val="F26B43"/>
          </p15:clr>
        </p15:guide>
        <p15:guide id="10" pos="4320">
          <p15:clr>
            <a:srgbClr val="F26B43"/>
          </p15:clr>
        </p15:guide>
        <p15:guide id="11" pos="4800">
          <p15:clr>
            <a:srgbClr val="F26B43"/>
          </p15:clr>
        </p15:guide>
        <p15:guide id="12" pos="5280">
          <p15:clr>
            <a:srgbClr val="F26B43"/>
          </p15:clr>
        </p15:guide>
        <p15:guide id="13" pos="5760">
          <p15:clr>
            <a:srgbClr val="F26B43"/>
          </p15:clr>
        </p15:guide>
        <p15:guide id="14" pos="6240">
          <p15:clr>
            <a:srgbClr val="F26B43"/>
          </p15:clr>
        </p15:guide>
        <p15:guide id="15" pos="6720">
          <p15:clr>
            <a:srgbClr val="F26B43"/>
          </p15:clr>
        </p15:guide>
        <p15:guide id="16" pos="7200">
          <p15:clr>
            <a:srgbClr val="F26B43"/>
          </p15:clr>
        </p15:guide>
        <p15:guide id="17" pos="7680">
          <p15:clr>
            <a:srgbClr val="F26B43"/>
          </p15:clr>
        </p15:guide>
        <p15:guide id="18" orient="horz">
          <p15:clr>
            <a:srgbClr val="F26B43"/>
          </p15:clr>
        </p15:guide>
        <p15:guide id="19" orient="horz" pos="480">
          <p15:clr>
            <a:srgbClr val="F26B43"/>
          </p15:clr>
        </p15:guide>
        <p15:guide id="20" orient="horz" pos="960">
          <p15:clr>
            <a:srgbClr val="F26B43"/>
          </p15:clr>
        </p15:guide>
        <p15:guide id="21" orient="horz" pos="1440">
          <p15:clr>
            <a:srgbClr val="F26B43"/>
          </p15:clr>
        </p15:guide>
        <p15:guide id="22" orient="horz" pos="1920">
          <p15:clr>
            <a:srgbClr val="F26B43"/>
          </p15:clr>
        </p15:guide>
        <p15:guide id="23" orient="horz" pos="2400">
          <p15:clr>
            <a:srgbClr val="F26B43"/>
          </p15:clr>
        </p15:guide>
        <p15:guide id="24" orient="horz" pos="2880">
          <p15:clr>
            <a:srgbClr val="F26B43"/>
          </p15:clr>
        </p15:guide>
        <p15:guide id="25" orient="horz" pos="3360">
          <p15:clr>
            <a:srgbClr val="F26B43"/>
          </p15:clr>
        </p15:guide>
        <p15:guide id="26" orient="horz" pos="3840">
          <p15:clr>
            <a:srgbClr val="F26B43"/>
          </p15:clr>
        </p15:guide>
        <p15:guide id="27" orient="horz" pos="43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E5D0-86C7-CC61-9F5F-D319386C0BD9}"/>
              </a:ext>
            </a:extLst>
          </p:cNvPr>
          <p:cNvSpPr>
            <a:spLocks noGrp="1"/>
          </p:cNvSpPr>
          <p:nvPr>
            <p:ph type="ctrTitle"/>
          </p:nvPr>
        </p:nvSpPr>
        <p:spPr>
          <a:xfrm>
            <a:off x="683342" y="762000"/>
            <a:ext cx="10668000" cy="1843547"/>
          </a:xfrm>
        </p:spPr>
        <p:txBody>
          <a:bodyPr/>
          <a:lstStyle/>
          <a:p>
            <a:r>
              <a:rPr lang="en-CA" dirty="0"/>
              <a:t>Used Cars Price Analysis </a:t>
            </a:r>
            <a:endParaRPr lang="en-IN" dirty="0"/>
          </a:p>
        </p:txBody>
      </p:sp>
      <p:sp>
        <p:nvSpPr>
          <p:cNvPr id="3" name="Subtitle 2">
            <a:extLst>
              <a:ext uri="{FF2B5EF4-FFF2-40B4-BE49-F238E27FC236}">
                <a16:creationId xmlns:a16="http://schemas.microsoft.com/office/drawing/2014/main" id="{A82CE5B3-70F9-5D65-5DE5-DD087D5A9BF3}"/>
              </a:ext>
            </a:extLst>
          </p:cNvPr>
          <p:cNvSpPr>
            <a:spLocks noGrp="1"/>
          </p:cNvSpPr>
          <p:nvPr>
            <p:ph type="subTitle" idx="1"/>
          </p:nvPr>
        </p:nvSpPr>
        <p:spPr/>
        <p:txBody>
          <a:bodyPr/>
          <a:lstStyle/>
          <a:p>
            <a:pPr algn="r"/>
            <a:r>
              <a:rPr lang="en-IN" dirty="0"/>
              <a:t>By Abhinav Davu</a:t>
            </a:r>
          </a:p>
        </p:txBody>
      </p:sp>
    </p:spTree>
    <p:extLst>
      <p:ext uri="{BB962C8B-B14F-4D97-AF65-F5344CB8AC3E}">
        <p14:creationId xmlns:p14="http://schemas.microsoft.com/office/powerpoint/2010/main" val="1192332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0212F-B02E-3BE1-800D-32120843BF90}"/>
              </a:ext>
            </a:extLst>
          </p:cNvPr>
          <p:cNvSpPr>
            <a:spLocks noGrp="1"/>
          </p:cNvSpPr>
          <p:nvPr>
            <p:ph idx="1"/>
          </p:nvPr>
        </p:nvSpPr>
        <p:spPr>
          <a:xfrm>
            <a:off x="762000" y="2286000"/>
            <a:ext cx="10668000" cy="4399935"/>
          </a:xfrm>
        </p:spPr>
        <p:txBody>
          <a:bodyPr>
            <a:normAutofit fontScale="77500" lnSpcReduction="20000"/>
          </a:bodyPr>
          <a:lstStyle/>
          <a:p>
            <a:r>
              <a:rPr lang="en-US" sz="2500" dirty="0"/>
              <a:t>Introduction</a:t>
            </a:r>
          </a:p>
          <a:p>
            <a:r>
              <a:rPr lang="en-US" sz="2500" dirty="0"/>
              <a:t>Objectives</a:t>
            </a:r>
          </a:p>
          <a:p>
            <a:r>
              <a:rPr lang="en-IN" sz="2500" dirty="0"/>
              <a:t>Methodology</a:t>
            </a:r>
            <a:br>
              <a:rPr lang="en-IN" sz="2500" dirty="0"/>
            </a:br>
            <a:endParaRPr lang="en-IN" sz="2500" dirty="0"/>
          </a:p>
          <a:p>
            <a:pPr lvl="1"/>
            <a:r>
              <a:rPr lang="en-IN" sz="1800" dirty="0"/>
              <a:t>Data Collection</a:t>
            </a:r>
          </a:p>
          <a:p>
            <a:pPr lvl="1"/>
            <a:r>
              <a:rPr lang="en-IN" sz="1800" dirty="0"/>
              <a:t>Data Cleaning</a:t>
            </a:r>
          </a:p>
          <a:p>
            <a:pPr lvl="1"/>
            <a:r>
              <a:rPr lang="en-IN" sz="1800" dirty="0"/>
              <a:t>Data Visualization</a:t>
            </a:r>
          </a:p>
          <a:p>
            <a:r>
              <a:rPr lang="en-CA" sz="2500" dirty="0"/>
              <a:t>Dashboard </a:t>
            </a:r>
          </a:p>
          <a:p>
            <a:r>
              <a:rPr lang="en-CA" sz="2500" dirty="0"/>
              <a:t>Key Insights</a:t>
            </a:r>
          </a:p>
          <a:p>
            <a:r>
              <a:rPr lang="en-CA" sz="2500" dirty="0"/>
              <a:t>Challenges</a:t>
            </a:r>
          </a:p>
          <a:p>
            <a:r>
              <a:rPr lang="en-CA" sz="2500" dirty="0"/>
              <a:t>Conclusion</a:t>
            </a:r>
            <a:endParaRPr lang="en-IN" dirty="0"/>
          </a:p>
        </p:txBody>
      </p:sp>
      <p:sp>
        <p:nvSpPr>
          <p:cNvPr id="6" name="Title 5">
            <a:extLst>
              <a:ext uri="{FF2B5EF4-FFF2-40B4-BE49-F238E27FC236}">
                <a16:creationId xmlns:a16="http://schemas.microsoft.com/office/drawing/2014/main" id="{D8C1B507-149F-DDCE-FDE6-7676F9986BFE}"/>
              </a:ext>
            </a:extLst>
          </p:cNvPr>
          <p:cNvSpPr txBox="1">
            <a:spLocks noGrp="1"/>
          </p:cNvSpPr>
          <p:nvPr>
            <p:ph type="title"/>
          </p:nvPr>
        </p:nvSpPr>
        <p:spPr>
          <a:xfrm>
            <a:off x="762000" y="762000"/>
            <a:ext cx="10668000" cy="1524000"/>
          </a:xfrm>
          <a:prstGeom prst="rect">
            <a:avLst/>
          </a:prstGeom>
          <a:noFill/>
        </p:spPr>
        <p:txBody>
          <a:bodyPr wrap="square">
            <a:spAutoFit/>
          </a:bodyPr>
          <a:lstStyle/>
          <a:p>
            <a:r>
              <a:rPr lang="en-US" dirty="0"/>
              <a:t>Agenda</a:t>
            </a:r>
            <a:endParaRPr lang="en-IN" dirty="0"/>
          </a:p>
        </p:txBody>
      </p:sp>
    </p:spTree>
    <p:extLst>
      <p:ext uri="{BB962C8B-B14F-4D97-AF65-F5344CB8AC3E}">
        <p14:creationId xmlns:p14="http://schemas.microsoft.com/office/powerpoint/2010/main" val="2302354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7A7DD-469C-E981-AC72-B02D85C139C0}"/>
              </a:ext>
            </a:extLst>
          </p:cNvPr>
          <p:cNvSpPr>
            <a:spLocks noGrp="1"/>
          </p:cNvSpPr>
          <p:nvPr>
            <p:ph type="title"/>
          </p:nvPr>
        </p:nvSpPr>
        <p:spPr/>
        <p:txBody>
          <a:bodyPr/>
          <a:lstStyle/>
          <a:p>
            <a:r>
              <a:rPr lang="en-CA" dirty="0"/>
              <a:t>Introduction</a:t>
            </a:r>
            <a:endParaRPr lang="en-IN" dirty="0"/>
          </a:p>
        </p:txBody>
      </p:sp>
      <p:sp>
        <p:nvSpPr>
          <p:cNvPr id="3" name="Content Placeholder 2">
            <a:extLst>
              <a:ext uri="{FF2B5EF4-FFF2-40B4-BE49-F238E27FC236}">
                <a16:creationId xmlns:a16="http://schemas.microsoft.com/office/drawing/2014/main" id="{8746E37D-0DCA-8842-F4C9-A1357E297262}"/>
              </a:ext>
            </a:extLst>
          </p:cNvPr>
          <p:cNvSpPr>
            <a:spLocks noGrp="1"/>
          </p:cNvSpPr>
          <p:nvPr>
            <p:ph idx="1"/>
          </p:nvPr>
        </p:nvSpPr>
        <p:spPr/>
        <p:txBody>
          <a:bodyPr>
            <a:normAutofit/>
          </a:bodyPr>
          <a:lstStyle/>
          <a:p>
            <a:r>
              <a:rPr lang="en-US" sz="2000" dirty="0"/>
              <a:t>The Indian used-car market is expanding rapidly, offering consumers affordable, quality vehicles across multiple cities and price points—creating a vibrant marketplace with diverse buyer and seller opportunities.</a:t>
            </a:r>
          </a:p>
          <a:p>
            <a:r>
              <a:rPr lang="en-IN" sz="2000" dirty="0"/>
              <a:t> Online platforms like Droom aggregate extensive listing data across critical attributes (Brand, Fuel Type, Transmission, Year, Price, Kilometres Driven, Location), providing rich insights into market behaviour.</a:t>
            </a:r>
          </a:p>
          <a:p>
            <a:r>
              <a:rPr lang="en-US" sz="2000" dirty="0"/>
              <a:t>Used-car prices on Droom vary significantly across brands, locations, and vehicle conditions, driven by interconnected factors such as age, usage intensity, and regional demand—requiring structured data analysis to uncover transparent pricing patterns.</a:t>
            </a:r>
            <a:endParaRPr lang="en-IN" sz="2000" dirty="0"/>
          </a:p>
        </p:txBody>
      </p:sp>
    </p:spTree>
    <p:extLst>
      <p:ext uri="{BB962C8B-B14F-4D97-AF65-F5344CB8AC3E}">
        <p14:creationId xmlns:p14="http://schemas.microsoft.com/office/powerpoint/2010/main" val="768897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DC871-FA91-60EE-D06C-B6D463D9E3FF}"/>
              </a:ext>
            </a:extLst>
          </p:cNvPr>
          <p:cNvSpPr>
            <a:spLocks noGrp="1"/>
          </p:cNvSpPr>
          <p:nvPr>
            <p:ph type="title"/>
          </p:nvPr>
        </p:nvSpPr>
        <p:spPr/>
        <p:txBody>
          <a:bodyPr/>
          <a:lstStyle/>
          <a:p>
            <a:r>
              <a:rPr lang="en-US" dirty="0">
                <a:ea typeface="ADLaM Display" panose="020F0502020204030204" pitchFamily="2" charset="0"/>
                <a:cs typeface="ADLaM Display" panose="020F0502020204030204" pitchFamily="2" charset="0"/>
              </a:rPr>
              <a:t>Objective</a:t>
            </a:r>
            <a:endParaRPr lang="en-IN" dirty="0"/>
          </a:p>
        </p:txBody>
      </p:sp>
      <p:sp>
        <p:nvSpPr>
          <p:cNvPr id="3" name="Content Placeholder 2">
            <a:extLst>
              <a:ext uri="{FF2B5EF4-FFF2-40B4-BE49-F238E27FC236}">
                <a16:creationId xmlns:a16="http://schemas.microsoft.com/office/drawing/2014/main" id="{CBCC47A0-928A-666E-2408-7366A54DBB34}"/>
              </a:ext>
            </a:extLst>
          </p:cNvPr>
          <p:cNvSpPr>
            <a:spLocks noGrp="1"/>
          </p:cNvSpPr>
          <p:nvPr>
            <p:ph idx="1"/>
          </p:nvPr>
        </p:nvSpPr>
        <p:spPr/>
        <p:txBody>
          <a:bodyPr>
            <a:normAutofit fontScale="70000" lnSpcReduction="20000"/>
          </a:bodyPr>
          <a:lstStyle/>
          <a:p>
            <a:pPr>
              <a:lnSpc>
                <a:spcPct val="150000"/>
              </a:lnSpc>
            </a:pPr>
            <a:r>
              <a:rPr lang="en-US" dirty="0"/>
              <a:t>Goal: To understand and analyze the factors influencing used car prices to identify best-value vehicles.</a:t>
            </a:r>
          </a:p>
          <a:p>
            <a:pPr>
              <a:lnSpc>
                <a:spcPct val="150000"/>
              </a:lnSpc>
            </a:pPr>
            <a:r>
              <a:rPr lang="en-US" dirty="0"/>
              <a:t>Key Problems to Address: Analyzing car price variation across different brands. Identifying best cars with good quality at a lower price.</a:t>
            </a:r>
          </a:p>
          <a:p>
            <a:pPr>
              <a:lnSpc>
                <a:spcPct val="150000"/>
              </a:lnSpc>
            </a:pPr>
            <a:r>
              <a:rPr lang="en-US" dirty="0"/>
              <a:t>Data Source: Web scraped data from a reputed used car selling platform like </a:t>
            </a:r>
            <a:r>
              <a:rPr lang="en-US" dirty="0" err="1"/>
              <a:t>Droom,Carwale</a:t>
            </a:r>
            <a:r>
              <a:rPr lang="en-US" dirty="0"/>
              <a:t>.</a:t>
            </a:r>
          </a:p>
          <a:p>
            <a:pPr>
              <a:lnSpc>
                <a:spcPct val="150000"/>
              </a:lnSpc>
            </a:pPr>
            <a:r>
              <a:rPr lang="en-US" dirty="0"/>
              <a:t>To draw insights and conclusions that help users make data-driven decisions when buying used cars.</a:t>
            </a:r>
          </a:p>
          <a:p>
            <a:endParaRPr lang="en-IN" dirty="0"/>
          </a:p>
        </p:txBody>
      </p:sp>
    </p:spTree>
    <p:extLst>
      <p:ext uri="{BB962C8B-B14F-4D97-AF65-F5344CB8AC3E}">
        <p14:creationId xmlns:p14="http://schemas.microsoft.com/office/powerpoint/2010/main" val="3484131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9A50-CFF8-D871-0CB3-66757CEC07EF}"/>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F9C21C05-BE7F-5FB9-D3DA-D1B9031DF6BC}"/>
              </a:ext>
            </a:extLst>
          </p:cNvPr>
          <p:cNvSpPr>
            <a:spLocks noGrp="1"/>
          </p:cNvSpPr>
          <p:nvPr>
            <p:ph idx="1"/>
          </p:nvPr>
        </p:nvSpPr>
        <p:spPr/>
        <p:txBody>
          <a:bodyPr/>
          <a:lstStyle/>
          <a:p>
            <a:pPr lvl="1"/>
            <a:r>
              <a:rPr lang="en-IN" sz="2500" dirty="0"/>
              <a:t>Data Collection</a:t>
            </a:r>
          </a:p>
          <a:p>
            <a:pPr lvl="1"/>
            <a:r>
              <a:rPr lang="en-IN" sz="2500" dirty="0"/>
              <a:t>Data Cleaning</a:t>
            </a:r>
          </a:p>
          <a:p>
            <a:pPr lvl="1"/>
            <a:r>
              <a:rPr lang="en-IN" sz="2500" dirty="0"/>
              <a:t>Data Visualization</a:t>
            </a:r>
          </a:p>
          <a:p>
            <a:endParaRPr lang="en-IN" dirty="0"/>
          </a:p>
        </p:txBody>
      </p:sp>
    </p:spTree>
    <p:extLst>
      <p:ext uri="{BB962C8B-B14F-4D97-AF65-F5344CB8AC3E}">
        <p14:creationId xmlns:p14="http://schemas.microsoft.com/office/powerpoint/2010/main" val="53268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36834-0B48-E82E-29BE-9D26813A4EC8}"/>
              </a:ext>
            </a:extLst>
          </p:cNvPr>
          <p:cNvSpPr>
            <a:spLocks noGrp="1"/>
          </p:cNvSpPr>
          <p:nvPr>
            <p:ph type="title"/>
          </p:nvPr>
        </p:nvSpPr>
        <p:spPr/>
        <p:txBody>
          <a:bodyPr/>
          <a:lstStyle/>
          <a:p>
            <a:r>
              <a:rPr lang="en-IN" b="1" dirty="0"/>
              <a:t>Data Collection</a:t>
            </a:r>
            <a:endParaRPr lang="en-IN" dirty="0"/>
          </a:p>
        </p:txBody>
      </p:sp>
      <p:sp>
        <p:nvSpPr>
          <p:cNvPr id="3" name="Content Placeholder 2">
            <a:extLst>
              <a:ext uri="{FF2B5EF4-FFF2-40B4-BE49-F238E27FC236}">
                <a16:creationId xmlns:a16="http://schemas.microsoft.com/office/drawing/2014/main" id="{C9699D0A-EAF1-0B3E-4416-33E25F67EA4D}"/>
              </a:ext>
            </a:extLst>
          </p:cNvPr>
          <p:cNvSpPr>
            <a:spLocks noGrp="1"/>
          </p:cNvSpPr>
          <p:nvPr>
            <p:ph idx="1"/>
          </p:nvPr>
        </p:nvSpPr>
        <p:spPr>
          <a:xfrm>
            <a:off x="142568" y="2403987"/>
            <a:ext cx="8028039" cy="3818083"/>
          </a:xfrm>
        </p:spPr>
        <p:txBody>
          <a:bodyPr>
            <a:normAutofit/>
          </a:bodyPr>
          <a:lstStyle/>
          <a:p>
            <a:pPr>
              <a:lnSpc>
                <a:spcPct val="100000"/>
              </a:lnSpc>
            </a:pPr>
            <a:r>
              <a:rPr lang="en-CA" sz="2400" dirty="0"/>
              <a:t>Web Scraping:</a:t>
            </a:r>
          </a:p>
          <a:p>
            <a:pPr>
              <a:lnSpc>
                <a:spcPct val="100000"/>
              </a:lnSpc>
            </a:pPr>
            <a:r>
              <a:rPr lang="en-CA" sz="2000" dirty="0"/>
              <a:t>Objective: Gather comprehensive, structured data on used cars via web scraping targeting listings on Droom.in</a:t>
            </a:r>
            <a:br>
              <a:rPr lang="en-CA" sz="2000" dirty="0"/>
            </a:br>
            <a:br>
              <a:rPr lang="en-CA" dirty="0"/>
            </a:br>
            <a:r>
              <a:rPr lang="en-CA" sz="2400" dirty="0"/>
              <a:t>Tools Used:</a:t>
            </a:r>
          </a:p>
          <a:p>
            <a:pPr marL="342900" indent="-342900">
              <a:lnSpc>
                <a:spcPct val="100000"/>
              </a:lnSpc>
            </a:pPr>
            <a:r>
              <a:rPr lang="en-CA" sz="2000" dirty="0"/>
              <a:t>Python Libraries: </a:t>
            </a:r>
            <a:r>
              <a:rPr lang="en-IN" sz="2000" dirty="0">
                <a:cs typeface="Times New Roman" panose="02020603050405020304" pitchFamily="18" charset="0"/>
              </a:rPr>
              <a:t>requests (send HTTP requests and fetch web pages), </a:t>
            </a:r>
            <a:r>
              <a:rPr lang="en-IN" sz="2000" dirty="0" err="1">
                <a:cs typeface="Times New Roman" panose="02020603050405020304" pitchFamily="18" charset="0"/>
              </a:rPr>
              <a:t>BeautifulSoup</a:t>
            </a:r>
            <a:r>
              <a:rPr lang="en-IN" sz="2000" dirty="0">
                <a:cs typeface="Times New Roman" panose="02020603050405020304" pitchFamily="18" charset="0"/>
              </a:rPr>
              <a:t> (parse HTML and extract structured data), pandas (organize and store extracted data in Excel format)</a:t>
            </a:r>
          </a:p>
          <a:p>
            <a:pPr marL="457200" lvl="1" indent="0">
              <a:lnSpc>
                <a:spcPct val="100000"/>
              </a:lnSpc>
              <a:buNone/>
            </a:pPr>
            <a:r>
              <a:rPr lang="en-CA" sz="2000" dirty="0"/>
              <a:t>IDE/Environment: </a:t>
            </a:r>
            <a:r>
              <a:rPr lang="en-CA" sz="2000" dirty="0" err="1"/>
              <a:t>Jupyter</a:t>
            </a:r>
            <a:r>
              <a:rPr lang="en-CA" sz="2000" dirty="0"/>
              <a:t> Notebook.</a:t>
            </a:r>
          </a:p>
          <a:p>
            <a:endParaRPr lang="en-IN" dirty="0"/>
          </a:p>
        </p:txBody>
      </p:sp>
      <p:pic>
        <p:nvPicPr>
          <p:cNvPr id="5" name="Picture 4" descr="A screenshot of a computer&#10;&#10;AI-generated content may be incorrect.">
            <a:extLst>
              <a:ext uri="{FF2B5EF4-FFF2-40B4-BE49-F238E27FC236}">
                <a16:creationId xmlns:a16="http://schemas.microsoft.com/office/drawing/2014/main" id="{82366760-768D-F770-46C0-92AF212A25F5}"/>
              </a:ext>
            </a:extLst>
          </p:cNvPr>
          <p:cNvPicPr>
            <a:picLocks noChangeAspect="1"/>
          </p:cNvPicPr>
          <p:nvPr/>
        </p:nvPicPr>
        <p:blipFill>
          <a:blip r:embed="rId2"/>
          <a:stretch>
            <a:fillRect/>
          </a:stretch>
        </p:blipFill>
        <p:spPr>
          <a:xfrm>
            <a:off x="7993626" y="2712614"/>
            <a:ext cx="4198374" cy="2499570"/>
          </a:xfrm>
          <a:prstGeom prst="rect">
            <a:avLst/>
          </a:prstGeom>
        </p:spPr>
      </p:pic>
    </p:spTree>
    <p:extLst>
      <p:ext uri="{BB962C8B-B14F-4D97-AF65-F5344CB8AC3E}">
        <p14:creationId xmlns:p14="http://schemas.microsoft.com/office/powerpoint/2010/main" val="1885080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340E-ADC3-2717-27FF-0F5BD6716D05}"/>
              </a:ext>
            </a:extLst>
          </p:cNvPr>
          <p:cNvSpPr>
            <a:spLocks noGrp="1"/>
          </p:cNvSpPr>
          <p:nvPr>
            <p:ph type="title"/>
          </p:nvPr>
        </p:nvSpPr>
        <p:spPr/>
        <p:txBody>
          <a:bodyPr/>
          <a:lstStyle/>
          <a:p>
            <a:r>
              <a:rPr lang="en-IN" b="1" dirty="0"/>
              <a:t>Data Collection</a:t>
            </a:r>
            <a:endParaRPr lang="en-IN" dirty="0"/>
          </a:p>
        </p:txBody>
      </p:sp>
      <p:sp>
        <p:nvSpPr>
          <p:cNvPr id="3" name="Content Placeholder 2">
            <a:extLst>
              <a:ext uri="{FF2B5EF4-FFF2-40B4-BE49-F238E27FC236}">
                <a16:creationId xmlns:a16="http://schemas.microsoft.com/office/drawing/2014/main" id="{3230ABE2-0C17-E861-E2A9-D4CE283D9FE6}"/>
              </a:ext>
            </a:extLst>
          </p:cNvPr>
          <p:cNvSpPr>
            <a:spLocks noGrp="1"/>
          </p:cNvSpPr>
          <p:nvPr>
            <p:ph idx="1"/>
          </p:nvPr>
        </p:nvSpPr>
        <p:spPr>
          <a:xfrm>
            <a:off x="762000" y="2286000"/>
            <a:ext cx="7074310" cy="3818083"/>
          </a:xfrm>
        </p:spPr>
        <p:txBody>
          <a:bodyPr>
            <a:normAutofit/>
          </a:bodyPr>
          <a:lstStyle/>
          <a:p>
            <a:r>
              <a:rPr lang="en-CA" sz="2000" dirty="0"/>
              <a:t>Comprehensive data set covering major Indian cities including Mumbai, Delhi, Bangalore, Chennai, Hyderabad, Pune and </a:t>
            </a:r>
            <a:r>
              <a:rPr lang="en-CA" sz="2000" dirty="0" err="1"/>
              <a:t>kolkata</a:t>
            </a:r>
            <a:r>
              <a:rPr lang="en-CA" sz="2000" dirty="0"/>
              <a:t>.</a:t>
            </a:r>
          </a:p>
          <a:p>
            <a:r>
              <a:rPr lang="en-US" sz="2000" dirty="0"/>
              <a:t>The automated scraper in this project was designed to visit up to 50 result pages for every selected Droom city URL, ensuring broad marketplace coverage and a statistically robust sample of used‑car listings for analysis.</a:t>
            </a:r>
            <a:endParaRPr lang="en-CA" sz="2000" dirty="0"/>
          </a:p>
          <a:p>
            <a:endParaRPr lang="en-IN" dirty="0"/>
          </a:p>
        </p:txBody>
      </p:sp>
      <p:pic>
        <p:nvPicPr>
          <p:cNvPr id="5" name="Picture 4" descr="A screenshot of a computer program">
            <a:extLst>
              <a:ext uri="{FF2B5EF4-FFF2-40B4-BE49-F238E27FC236}">
                <a16:creationId xmlns:a16="http://schemas.microsoft.com/office/drawing/2014/main" id="{44C263B0-FECC-7D04-BBE9-6B20CC839C62}"/>
              </a:ext>
            </a:extLst>
          </p:cNvPr>
          <p:cNvPicPr>
            <a:picLocks noChangeAspect="1"/>
          </p:cNvPicPr>
          <p:nvPr/>
        </p:nvPicPr>
        <p:blipFill>
          <a:blip r:embed="rId2"/>
          <a:stretch>
            <a:fillRect/>
          </a:stretch>
        </p:blipFill>
        <p:spPr>
          <a:xfrm>
            <a:off x="7836310" y="1674500"/>
            <a:ext cx="4147117" cy="4429583"/>
          </a:xfrm>
          <a:prstGeom prst="rect">
            <a:avLst/>
          </a:prstGeom>
        </p:spPr>
      </p:pic>
    </p:spTree>
    <p:extLst>
      <p:ext uri="{BB962C8B-B14F-4D97-AF65-F5344CB8AC3E}">
        <p14:creationId xmlns:p14="http://schemas.microsoft.com/office/powerpoint/2010/main" val="3355285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422F1-7C3F-3701-0196-E358FB00348E}"/>
              </a:ext>
            </a:extLst>
          </p:cNvPr>
          <p:cNvSpPr>
            <a:spLocks noGrp="1"/>
          </p:cNvSpPr>
          <p:nvPr>
            <p:ph type="title"/>
          </p:nvPr>
        </p:nvSpPr>
        <p:spPr/>
        <p:txBody>
          <a:bodyPr/>
          <a:lstStyle/>
          <a:p>
            <a:r>
              <a:rPr lang="en-IN" b="1" dirty="0"/>
              <a:t>Data Cleaning</a:t>
            </a:r>
            <a:endParaRPr lang="en-IN" dirty="0"/>
          </a:p>
        </p:txBody>
      </p:sp>
      <p:sp>
        <p:nvSpPr>
          <p:cNvPr id="3" name="Content Placeholder 2">
            <a:extLst>
              <a:ext uri="{FF2B5EF4-FFF2-40B4-BE49-F238E27FC236}">
                <a16:creationId xmlns:a16="http://schemas.microsoft.com/office/drawing/2014/main" id="{02809C6D-D147-75D7-73CF-9CC6589FED67}"/>
              </a:ext>
            </a:extLst>
          </p:cNvPr>
          <p:cNvSpPr>
            <a:spLocks noGrp="1"/>
          </p:cNvSpPr>
          <p:nvPr>
            <p:ph idx="1"/>
          </p:nvPr>
        </p:nvSpPr>
        <p:spPr>
          <a:xfrm>
            <a:off x="762000" y="2286000"/>
            <a:ext cx="6484374" cy="3818083"/>
          </a:xfrm>
        </p:spPr>
        <p:txBody>
          <a:bodyPr>
            <a:normAutofit fontScale="77500" lnSpcReduction="20000"/>
          </a:bodyPr>
          <a:lstStyle/>
          <a:p>
            <a:r>
              <a:rPr lang="en-US" sz="2400" dirty="0"/>
              <a:t>Extracted Brand (first word of the car name) and Year from the Name field into separate columns for easier analysis.</a:t>
            </a:r>
          </a:p>
          <a:p>
            <a:r>
              <a:rPr lang="en-US" sz="2400" dirty="0"/>
              <a:t>Removed rows with missing critical values and dropped duplicate listings to improve data reliability.</a:t>
            </a:r>
          </a:p>
          <a:p>
            <a:r>
              <a:rPr lang="en-US" sz="2400" dirty="0"/>
              <a:t>Standardized the Price field by stripping the rupee symbol and commas and converting it into a numeric Lakhs column.</a:t>
            </a:r>
          </a:p>
          <a:p>
            <a:r>
              <a:rPr lang="en-US" sz="2400" dirty="0"/>
              <a:t>Converted the KMs field from text to a clean numeric column (</a:t>
            </a:r>
            <a:r>
              <a:rPr lang="en-US" sz="2400" dirty="0" err="1"/>
              <a:t>KMs_Numeric</a:t>
            </a:r>
            <a:r>
              <a:rPr lang="en-US" sz="2400" dirty="0"/>
              <a:t>) so that distance driven can be aggregated and plotted.</a:t>
            </a:r>
          </a:p>
          <a:p>
            <a:endParaRPr lang="en-IN" dirty="0"/>
          </a:p>
        </p:txBody>
      </p:sp>
      <p:pic>
        <p:nvPicPr>
          <p:cNvPr id="9" name="Picture 8" descr="A screenshot of a computer program&#10;&#10;AI-generated content may be incorrect.">
            <a:extLst>
              <a:ext uri="{FF2B5EF4-FFF2-40B4-BE49-F238E27FC236}">
                <a16:creationId xmlns:a16="http://schemas.microsoft.com/office/drawing/2014/main" id="{9680F62A-090F-8CDD-91E9-E688DBADCC30}"/>
              </a:ext>
            </a:extLst>
          </p:cNvPr>
          <p:cNvPicPr>
            <a:picLocks noChangeAspect="1"/>
          </p:cNvPicPr>
          <p:nvPr/>
        </p:nvPicPr>
        <p:blipFill>
          <a:blip r:embed="rId2"/>
          <a:stretch>
            <a:fillRect/>
          </a:stretch>
        </p:blipFill>
        <p:spPr>
          <a:xfrm>
            <a:off x="7325031" y="2286000"/>
            <a:ext cx="4728423" cy="2852937"/>
          </a:xfrm>
          <a:prstGeom prst="rect">
            <a:avLst/>
          </a:prstGeom>
        </p:spPr>
      </p:pic>
    </p:spTree>
    <p:extLst>
      <p:ext uri="{BB962C8B-B14F-4D97-AF65-F5344CB8AC3E}">
        <p14:creationId xmlns:p14="http://schemas.microsoft.com/office/powerpoint/2010/main" val="2788103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16B96-8B8D-A238-1058-F7E255EA7B18}"/>
              </a:ext>
            </a:extLst>
          </p:cNvPr>
          <p:cNvSpPr>
            <a:spLocks noGrp="1"/>
          </p:cNvSpPr>
          <p:nvPr>
            <p:ph type="title"/>
          </p:nvPr>
        </p:nvSpPr>
        <p:spPr/>
        <p:txBody>
          <a:bodyPr/>
          <a:lstStyle/>
          <a:p>
            <a:r>
              <a:rPr lang="en-IN" b="1" dirty="0"/>
              <a:t>Data Visualization</a:t>
            </a:r>
            <a:endParaRPr lang="en-IN" dirty="0"/>
          </a:p>
        </p:txBody>
      </p:sp>
      <p:sp>
        <p:nvSpPr>
          <p:cNvPr id="3" name="Content Placeholder 2">
            <a:extLst>
              <a:ext uri="{FF2B5EF4-FFF2-40B4-BE49-F238E27FC236}">
                <a16:creationId xmlns:a16="http://schemas.microsoft.com/office/drawing/2014/main" id="{15D1574B-B8FB-28F4-14E7-FC4929AFA2ED}"/>
              </a:ext>
            </a:extLst>
          </p:cNvPr>
          <p:cNvSpPr>
            <a:spLocks noGrp="1"/>
          </p:cNvSpPr>
          <p:nvPr>
            <p:ph idx="1"/>
          </p:nvPr>
        </p:nvSpPr>
        <p:spPr>
          <a:xfrm>
            <a:off x="762000" y="2286000"/>
            <a:ext cx="7516761" cy="3818083"/>
          </a:xfrm>
        </p:spPr>
        <p:txBody>
          <a:bodyPr/>
          <a:lstStyle/>
          <a:p>
            <a:pPr marL="0" lvl="0" indent="0">
              <a:lnSpc>
                <a:spcPct val="150000"/>
              </a:lnSpc>
              <a:buNone/>
              <a:defRPr/>
            </a:pPr>
            <a:r>
              <a:rPr lang="en-US" sz="2000" dirty="0">
                <a:solidFill>
                  <a:schemeClr val="tx1"/>
                </a:solidFill>
                <a:latin typeface="+mj-lt"/>
                <a:cs typeface="Times New Roman" panose="02020603050405020304" pitchFamily="18" charset="0"/>
              </a:rPr>
              <a:t> Tool Used:</a:t>
            </a:r>
          </a:p>
          <a:p>
            <a:pPr marL="342900" indent="-342900">
              <a:lnSpc>
                <a:spcPct val="150000"/>
              </a:lnSpc>
              <a:defRPr/>
            </a:pPr>
            <a:r>
              <a:rPr lang="en-US" sz="2000" dirty="0">
                <a:solidFill>
                  <a:schemeClr val="tx1"/>
                </a:solidFill>
                <a:latin typeface="+mj-lt"/>
                <a:cs typeface="Times New Roman" panose="02020603050405020304" pitchFamily="18" charset="0"/>
              </a:rPr>
              <a:t>Power BI Dashboards</a:t>
            </a:r>
          </a:p>
          <a:p>
            <a:pPr marL="285750" indent="-285750">
              <a:lnSpc>
                <a:spcPct val="150000"/>
              </a:lnSpc>
              <a:defRPr/>
            </a:pPr>
            <a:r>
              <a:rPr lang="en-US" sz="2000" dirty="0">
                <a:solidFill>
                  <a:schemeClr val="tx1"/>
                </a:solidFill>
                <a:latin typeface="+mj-lt"/>
                <a:cs typeface="Times New Roman" panose="02020603050405020304" pitchFamily="18" charset="0"/>
              </a:rPr>
              <a:t>Clear insights into factors affecting used car prices.</a:t>
            </a:r>
          </a:p>
          <a:p>
            <a:pPr marL="285750" indent="-285750">
              <a:lnSpc>
                <a:spcPct val="150000"/>
              </a:lnSpc>
              <a:defRPr/>
            </a:pPr>
            <a:r>
              <a:rPr lang="en-US" sz="2000" dirty="0">
                <a:solidFill>
                  <a:schemeClr val="tx1"/>
                </a:solidFill>
                <a:latin typeface="+mj-lt"/>
                <a:cs typeface="Times New Roman" panose="02020603050405020304" pitchFamily="18" charset="0"/>
              </a:rPr>
              <a:t>Identification of best-value car brands and price trends across cities</a:t>
            </a:r>
            <a:endParaRPr lang="en-US" sz="2000" dirty="0">
              <a:solidFill>
                <a:schemeClr val="tx1"/>
              </a:solidFill>
              <a:latin typeface="+mj-lt"/>
            </a:endParaRPr>
          </a:p>
          <a:p>
            <a:endParaRPr lang="en-IN" dirty="0"/>
          </a:p>
        </p:txBody>
      </p:sp>
    </p:spTree>
    <p:extLst>
      <p:ext uri="{BB962C8B-B14F-4D97-AF65-F5344CB8AC3E}">
        <p14:creationId xmlns:p14="http://schemas.microsoft.com/office/powerpoint/2010/main" val="2013148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4DB42B-47D9-250D-4DC7-398BD3E9CBB9}"/>
              </a:ext>
            </a:extLst>
          </p:cNvPr>
          <p:cNvSpPr>
            <a:spLocks noGrp="1"/>
          </p:cNvSpPr>
          <p:nvPr>
            <p:ph idx="1"/>
          </p:nvPr>
        </p:nvSpPr>
        <p:spPr>
          <a:xfrm>
            <a:off x="575492" y="1410929"/>
            <a:ext cx="3465871" cy="3818083"/>
          </a:xfrm>
        </p:spPr>
        <p:txBody>
          <a:bodyPr>
            <a:normAutofit fontScale="62500" lnSpcReduction="20000"/>
          </a:bodyPr>
          <a:lstStyle/>
          <a:p>
            <a:r>
              <a:rPr lang="en-CA" sz="3200" dirty="0">
                <a:solidFill>
                  <a:schemeClr val="tx1"/>
                </a:solidFill>
              </a:rPr>
              <a:t>Compared Price vs KM’s avg year wise with brand. </a:t>
            </a:r>
          </a:p>
          <a:p>
            <a:endParaRPr lang="en-CA" sz="2000" dirty="0">
              <a:solidFill>
                <a:schemeClr val="tx1"/>
              </a:solidFill>
            </a:endParaRPr>
          </a:p>
          <a:p>
            <a:r>
              <a:rPr lang="en-US" sz="3200" dirty="0">
                <a:latin typeface="+mj-lt"/>
              </a:rPr>
              <a:t>The scatter plot reveals a clear negative correlation between </a:t>
            </a:r>
            <a:r>
              <a:rPr lang="en-US" sz="3200" dirty="0" err="1">
                <a:latin typeface="+mj-lt"/>
              </a:rPr>
              <a:t>kilometres</a:t>
            </a:r>
            <a:r>
              <a:rPr lang="en-US" sz="3200" dirty="0">
                <a:latin typeface="+mj-lt"/>
              </a:rPr>
              <a:t> driven and car price—vehicles with higher mileage tend to have lower resale prices, reflecting depreciation due to increased usage.</a:t>
            </a:r>
            <a:endParaRPr lang="en-IN" sz="3200" dirty="0">
              <a:latin typeface="+mj-lt"/>
            </a:endParaRPr>
          </a:p>
        </p:txBody>
      </p:sp>
      <p:pic>
        <p:nvPicPr>
          <p:cNvPr id="9" name="Picture 8" descr="A screenshot of a graph&#10;&#10;AI-generated content may be incorrect.">
            <a:extLst>
              <a:ext uri="{FF2B5EF4-FFF2-40B4-BE49-F238E27FC236}">
                <a16:creationId xmlns:a16="http://schemas.microsoft.com/office/drawing/2014/main" id="{2C889C66-26EC-69BC-1DEB-BD1EBC0C2C49}"/>
              </a:ext>
            </a:extLst>
          </p:cNvPr>
          <p:cNvPicPr>
            <a:picLocks noChangeAspect="1"/>
          </p:cNvPicPr>
          <p:nvPr/>
        </p:nvPicPr>
        <p:blipFill>
          <a:blip r:embed="rId2"/>
          <a:stretch>
            <a:fillRect/>
          </a:stretch>
        </p:blipFill>
        <p:spPr>
          <a:xfrm>
            <a:off x="4362150" y="1410928"/>
            <a:ext cx="7254358" cy="3818083"/>
          </a:xfrm>
          <a:prstGeom prst="rect">
            <a:avLst/>
          </a:prstGeom>
        </p:spPr>
      </p:pic>
    </p:spTree>
    <p:extLst>
      <p:ext uri="{BB962C8B-B14F-4D97-AF65-F5344CB8AC3E}">
        <p14:creationId xmlns:p14="http://schemas.microsoft.com/office/powerpoint/2010/main" val="3469062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green bars&#10;&#10;AI-generated content may be incorrect.">
            <a:extLst>
              <a:ext uri="{FF2B5EF4-FFF2-40B4-BE49-F238E27FC236}">
                <a16:creationId xmlns:a16="http://schemas.microsoft.com/office/drawing/2014/main" id="{E6DC14A9-AA64-7D55-1563-5366933D912A}"/>
              </a:ext>
            </a:extLst>
          </p:cNvPr>
          <p:cNvPicPr>
            <a:picLocks noChangeAspect="1"/>
          </p:cNvPicPr>
          <p:nvPr/>
        </p:nvPicPr>
        <p:blipFill>
          <a:blip r:embed="rId2"/>
          <a:stretch>
            <a:fillRect/>
          </a:stretch>
        </p:blipFill>
        <p:spPr>
          <a:xfrm>
            <a:off x="1132782" y="656838"/>
            <a:ext cx="9926435" cy="5544324"/>
          </a:xfrm>
          <a:prstGeom prst="rect">
            <a:avLst/>
          </a:prstGeom>
        </p:spPr>
      </p:pic>
    </p:spTree>
    <p:extLst>
      <p:ext uri="{BB962C8B-B14F-4D97-AF65-F5344CB8AC3E}">
        <p14:creationId xmlns:p14="http://schemas.microsoft.com/office/powerpoint/2010/main" val="142843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ist of cars with text&#10;&#10;AI-generated content may be incorrect.">
            <a:extLst>
              <a:ext uri="{FF2B5EF4-FFF2-40B4-BE49-F238E27FC236}">
                <a16:creationId xmlns:a16="http://schemas.microsoft.com/office/drawing/2014/main" id="{0859F3F0-3F29-A82F-6AF3-388458CB595D}"/>
              </a:ext>
            </a:extLst>
          </p:cNvPr>
          <p:cNvPicPr>
            <a:picLocks noChangeAspect="1"/>
          </p:cNvPicPr>
          <p:nvPr/>
        </p:nvPicPr>
        <p:blipFill>
          <a:blip r:embed="rId2"/>
          <a:stretch>
            <a:fillRect/>
          </a:stretch>
        </p:blipFill>
        <p:spPr>
          <a:xfrm>
            <a:off x="1327355" y="1612490"/>
            <a:ext cx="9284125" cy="3785420"/>
          </a:xfrm>
          <a:prstGeom prst="rect">
            <a:avLst/>
          </a:prstGeom>
        </p:spPr>
      </p:pic>
    </p:spTree>
    <p:extLst>
      <p:ext uri="{BB962C8B-B14F-4D97-AF65-F5344CB8AC3E}">
        <p14:creationId xmlns:p14="http://schemas.microsoft.com/office/powerpoint/2010/main" val="2396048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blue bars&#10;&#10;AI-generated content may be incorrect.">
            <a:extLst>
              <a:ext uri="{FF2B5EF4-FFF2-40B4-BE49-F238E27FC236}">
                <a16:creationId xmlns:a16="http://schemas.microsoft.com/office/drawing/2014/main" id="{8CDE5477-86DE-1432-2A87-9257AA329EC6}"/>
              </a:ext>
            </a:extLst>
          </p:cNvPr>
          <p:cNvPicPr>
            <a:picLocks noChangeAspect="1"/>
          </p:cNvPicPr>
          <p:nvPr/>
        </p:nvPicPr>
        <p:blipFill>
          <a:blip r:embed="rId2"/>
          <a:stretch>
            <a:fillRect/>
          </a:stretch>
        </p:blipFill>
        <p:spPr>
          <a:xfrm>
            <a:off x="1089914" y="918812"/>
            <a:ext cx="10012172" cy="5020376"/>
          </a:xfrm>
          <a:prstGeom prst="rect">
            <a:avLst/>
          </a:prstGeom>
        </p:spPr>
      </p:pic>
    </p:spTree>
    <p:extLst>
      <p:ext uri="{BB962C8B-B14F-4D97-AF65-F5344CB8AC3E}">
        <p14:creationId xmlns:p14="http://schemas.microsoft.com/office/powerpoint/2010/main" val="2587136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a number of kms&#10;&#10;AI-generated content may be incorrect.">
            <a:extLst>
              <a:ext uri="{FF2B5EF4-FFF2-40B4-BE49-F238E27FC236}">
                <a16:creationId xmlns:a16="http://schemas.microsoft.com/office/drawing/2014/main" id="{A377F6F3-E53B-ACF8-A908-57CC6BFB41B1}"/>
              </a:ext>
            </a:extLst>
          </p:cNvPr>
          <p:cNvPicPr>
            <a:picLocks noChangeAspect="1"/>
          </p:cNvPicPr>
          <p:nvPr/>
        </p:nvPicPr>
        <p:blipFill>
          <a:blip r:embed="rId2"/>
          <a:stretch>
            <a:fillRect/>
          </a:stretch>
        </p:blipFill>
        <p:spPr>
          <a:xfrm>
            <a:off x="2042547" y="590154"/>
            <a:ext cx="8106906" cy="5677692"/>
          </a:xfrm>
          <a:prstGeom prst="rect">
            <a:avLst/>
          </a:prstGeom>
        </p:spPr>
      </p:pic>
    </p:spTree>
    <p:extLst>
      <p:ext uri="{BB962C8B-B14F-4D97-AF65-F5344CB8AC3E}">
        <p14:creationId xmlns:p14="http://schemas.microsoft.com/office/powerpoint/2010/main" val="3247577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2B2D7-BDBF-05FB-2938-D97C0F04F5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32F563-7E55-FD16-2D00-7ED473F16EB1}"/>
              </a:ext>
            </a:extLst>
          </p:cNvPr>
          <p:cNvSpPr>
            <a:spLocks noGrp="1"/>
          </p:cNvSpPr>
          <p:nvPr>
            <p:ph idx="1"/>
          </p:nvPr>
        </p:nvSpPr>
        <p:spPr/>
        <p:txBody>
          <a:bodyPr/>
          <a:lstStyle/>
          <a:p>
            <a:endParaRPr lang="en-IN"/>
          </a:p>
        </p:txBody>
      </p:sp>
      <p:pic>
        <p:nvPicPr>
          <p:cNvPr id="5" name="Picture 4" descr="A screenshot of a graph&#10;&#10;AI-generated content may be incorrect.">
            <a:extLst>
              <a:ext uri="{FF2B5EF4-FFF2-40B4-BE49-F238E27FC236}">
                <a16:creationId xmlns:a16="http://schemas.microsoft.com/office/drawing/2014/main" id="{BDCF9C62-A0D6-635C-3B53-2B859FB9EE77}"/>
              </a:ext>
            </a:extLst>
          </p:cNvPr>
          <p:cNvPicPr>
            <a:picLocks noChangeAspect="1"/>
          </p:cNvPicPr>
          <p:nvPr/>
        </p:nvPicPr>
        <p:blipFill>
          <a:blip r:embed="rId2"/>
          <a:stretch>
            <a:fillRect/>
          </a:stretch>
        </p:blipFill>
        <p:spPr>
          <a:xfrm>
            <a:off x="688258" y="658761"/>
            <a:ext cx="10894142" cy="5633883"/>
          </a:xfrm>
          <a:prstGeom prst="rect">
            <a:avLst/>
          </a:prstGeom>
        </p:spPr>
      </p:pic>
    </p:spTree>
    <p:extLst>
      <p:ext uri="{BB962C8B-B14F-4D97-AF65-F5344CB8AC3E}">
        <p14:creationId xmlns:p14="http://schemas.microsoft.com/office/powerpoint/2010/main" val="1459221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49CA2-5715-CC12-1F0F-06EB2CFA6EE4}"/>
              </a:ext>
            </a:extLst>
          </p:cNvPr>
          <p:cNvSpPr>
            <a:spLocks noGrp="1"/>
          </p:cNvSpPr>
          <p:nvPr>
            <p:ph type="title"/>
          </p:nvPr>
        </p:nvSpPr>
        <p:spPr/>
        <p:txBody>
          <a:bodyPr/>
          <a:lstStyle/>
          <a:p>
            <a:r>
              <a:rPr lang="en-IN" dirty="0"/>
              <a:t>Key Insights</a:t>
            </a:r>
          </a:p>
        </p:txBody>
      </p:sp>
      <p:sp>
        <p:nvSpPr>
          <p:cNvPr id="3" name="Content Placeholder 2">
            <a:extLst>
              <a:ext uri="{FF2B5EF4-FFF2-40B4-BE49-F238E27FC236}">
                <a16:creationId xmlns:a16="http://schemas.microsoft.com/office/drawing/2014/main" id="{B17542EC-5BE1-ED36-6EB1-3B2EB4375C7E}"/>
              </a:ext>
            </a:extLst>
          </p:cNvPr>
          <p:cNvSpPr>
            <a:spLocks noGrp="1"/>
          </p:cNvSpPr>
          <p:nvPr>
            <p:ph idx="1"/>
          </p:nvPr>
        </p:nvSpPr>
        <p:spPr/>
        <p:txBody>
          <a:bodyPr>
            <a:normAutofit/>
          </a:bodyPr>
          <a:lstStyle/>
          <a:p>
            <a:r>
              <a:rPr lang="en-US" sz="2200" dirty="0">
                <a:latin typeface="+mj-lt"/>
              </a:rPr>
              <a:t>Petrol cars account for 64% of total kilometers driven, indicating higher usage compared to diesel (32%) and CNG (2%). Petrol vehicles show greater mileage accumulation, suggesting more frequent urban and short-distance travel.</a:t>
            </a:r>
          </a:p>
          <a:p>
            <a:r>
              <a:rPr lang="en-IN" sz="2200" dirty="0">
                <a:latin typeface="+mj-lt"/>
              </a:rPr>
              <a:t>Luxury brands lead </a:t>
            </a:r>
            <a:r>
              <a:rPr lang="en-IN" sz="2200" dirty="0" err="1">
                <a:latin typeface="+mj-lt"/>
              </a:rPr>
              <a:t>pricing:Porsche</a:t>
            </a:r>
            <a:r>
              <a:rPr lang="en-IN" sz="2200" dirty="0">
                <a:latin typeface="+mj-lt"/>
              </a:rPr>
              <a:t> Cayenne – ₹95 Lakhs, followed by </a:t>
            </a:r>
            <a:r>
              <a:rPr lang="it-IT" sz="2200" dirty="0">
                <a:latin typeface="+mj-lt"/>
              </a:rPr>
              <a:t>Audi Q5 2.0 TFSI quattro Premium – ₹61.6 Lakhs</a:t>
            </a:r>
            <a:r>
              <a:rPr lang="en-IN" sz="2200" dirty="0">
                <a:latin typeface="+mj-lt"/>
              </a:rPr>
              <a:t>, Toyota Fortuner </a:t>
            </a:r>
            <a:r>
              <a:rPr lang="en-IN" sz="2200" dirty="0" err="1">
                <a:latin typeface="+mj-lt"/>
              </a:rPr>
              <a:t>Legender</a:t>
            </a:r>
            <a:r>
              <a:rPr lang="en-IN" sz="2200" dirty="0">
                <a:latin typeface="+mj-lt"/>
              </a:rPr>
              <a:t> 2.8 4x4 AT – ₹49.95 Lakhs,</a:t>
            </a:r>
            <a:r>
              <a:rPr lang="en-US" sz="2200" dirty="0">
                <a:latin typeface="+mj-lt"/>
              </a:rPr>
              <a:t> Mercedes-Benz S-Class Maybach S 500 – ₹50.62 Lakhs and Mercedes-Benz S-Class 500 L – ₹46.18 Lakhs</a:t>
            </a:r>
          </a:p>
          <a:p>
            <a:endParaRPr lang="en-US" dirty="0"/>
          </a:p>
          <a:p>
            <a:endParaRPr lang="en-IN" dirty="0"/>
          </a:p>
          <a:p>
            <a:endParaRPr lang="en-IN" dirty="0"/>
          </a:p>
          <a:p>
            <a:endParaRPr lang="en-IN" sz="2000" dirty="0"/>
          </a:p>
        </p:txBody>
      </p:sp>
    </p:spTree>
    <p:extLst>
      <p:ext uri="{BB962C8B-B14F-4D97-AF65-F5344CB8AC3E}">
        <p14:creationId xmlns:p14="http://schemas.microsoft.com/office/powerpoint/2010/main" val="1986427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C48DD-3410-9AA4-8651-C20366D12AD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877618F5-C65E-E0E8-C5FD-CAE068700379}"/>
              </a:ext>
            </a:extLst>
          </p:cNvPr>
          <p:cNvSpPr>
            <a:spLocks noGrp="1"/>
          </p:cNvSpPr>
          <p:nvPr>
            <p:ph idx="1"/>
          </p:nvPr>
        </p:nvSpPr>
        <p:spPr/>
        <p:txBody>
          <a:bodyPr/>
          <a:lstStyle/>
          <a:p>
            <a:r>
              <a:rPr lang="en-US" dirty="0"/>
              <a:t>The used car market exhibits predictable patterns influenced by transmission type, fuel efficiency, geographic location, and vehicle age. Data-driven insights enable stakeholders to make informed decisions aligned with market dynamics and consumer preferences.</a:t>
            </a:r>
            <a:endParaRPr lang="en-IN" dirty="0"/>
          </a:p>
        </p:txBody>
      </p:sp>
    </p:spTree>
    <p:extLst>
      <p:ext uri="{BB962C8B-B14F-4D97-AF65-F5344CB8AC3E}">
        <p14:creationId xmlns:p14="http://schemas.microsoft.com/office/powerpoint/2010/main" val="1984214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C9FF8-7E27-82D9-05A1-7BC607EBC5DA}"/>
              </a:ext>
            </a:extLst>
          </p:cNvPr>
          <p:cNvSpPr>
            <a:spLocks noGrp="1"/>
          </p:cNvSpPr>
          <p:nvPr>
            <p:ph type="title"/>
          </p:nvPr>
        </p:nvSpPr>
        <p:spPr>
          <a:xfrm>
            <a:off x="1983658" y="2667000"/>
            <a:ext cx="8224684" cy="1524000"/>
          </a:xfrm>
        </p:spPr>
        <p:txBody>
          <a:bodyPr/>
          <a:lstStyle/>
          <a:p>
            <a:pPr algn="ctr"/>
            <a:r>
              <a:rPr lang="en-IN" dirty="0"/>
              <a:t>THANK YOU</a:t>
            </a:r>
          </a:p>
        </p:txBody>
      </p:sp>
    </p:spTree>
    <p:extLst>
      <p:ext uri="{BB962C8B-B14F-4D97-AF65-F5344CB8AC3E}">
        <p14:creationId xmlns:p14="http://schemas.microsoft.com/office/powerpoint/2010/main" val="100242101"/>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Pebble</Template>
  <TotalTime>82</TotalTime>
  <Words>642</Words>
  <Application>Microsoft Office PowerPoint</Application>
  <PresentationFormat>Widescreen</PresentationFormat>
  <Paragraphs>56</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ADLaM Display</vt:lpstr>
      <vt:lpstr>Arial</vt:lpstr>
      <vt:lpstr>Avenir Next LT Pro</vt:lpstr>
      <vt:lpstr>Avenir Next LT Pro Light</vt:lpstr>
      <vt:lpstr>Calibri</vt:lpstr>
      <vt:lpstr>Sitka Subheading</vt:lpstr>
      <vt:lpstr>Times New Roman</vt:lpstr>
      <vt:lpstr>PebbleVTI</vt:lpstr>
      <vt:lpstr>Used Cars Price Analysis </vt:lpstr>
      <vt:lpstr>Agenda</vt:lpstr>
      <vt:lpstr>Introduction</vt:lpstr>
      <vt:lpstr>Objective</vt:lpstr>
      <vt:lpstr>Methodology</vt:lpstr>
      <vt:lpstr>Data Collection</vt:lpstr>
      <vt:lpstr>Data Collection</vt:lpstr>
      <vt:lpstr>Data Cleaning</vt:lpstr>
      <vt:lpstr>Data Visualization</vt:lpstr>
      <vt:lpstr>PowerPoint Presentation</vt:lpstr>
      <vt:lpstr>PowerPoint Presentation</vt:lpstr>
      <vt:lpstr>PowerPoint Presentation</vt:lpstr>
      <vt:lpstr>PowerPoint Presentation</vt:lpstr>
      <vt:lpstr>PowerPoint Presentation</vt:lpstr>
      <vt:lpstr>PowerPoint Presentation</vt:lpstr>
      <vt:lpstr>Key Insights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Abhinav Davu</dc:creator>
  <cp:lastModifiedBy>Abhinav Davu</cp:lastModifiedBy>
  <cp:revision>2</cp:revision>
  <dcterms:created xsi:type="dcterms:W3CDTF">2025-12-11T15:17:04Z</dcterms:created>
  <dcterms:modified xsi:type="dcterms:W3CDTF">2025-12-11T16:47:48Z</dcterms:modified>
</cp:coreProperties>
</file>